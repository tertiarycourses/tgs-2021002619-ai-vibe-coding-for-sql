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Repeated values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1NF</c:v>
                </c:pt>
                <c:pt idx="2">
                  <c:v>2NF</c:v>
                </c:pt>
                <c:pt idx="3">
                  <c:v>3NF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5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Integrity rules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1NF</c:v>
                </c:pt>
                <c:pt idx="2">
                  <c:v>2NF</c:v>
                </c:pt>
                <c:pt idx="3">
                  <c:v>3NF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Rows examined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SELECT</c:v>
                </c:pt>
                <c:pt idx="1">
                  <c:v>WHERE</c:v>
                </c:pt>
                <c:pt idx="2">
                  <c:v>JOIN</c:v>
                </c:pt>
                <c:pt idx="3">
                  <c:v>GROUP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260</c:v>
                </c:pt>
                <c:pt idx="2">
                  <c:v>340</c:v>
                </c:pt>
                <c:pt idx="3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Rows returned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SELECT</c:v>
                </c:pt>
                <c:pt idx="1">
                  <c:v>WHERE</c:v>
                </c:pt>
                <c:pt idx="2">
                  <c:v>JOIN</c:v>
                </c:pt>
                <c:pt idx="3">
                  <c:v>GROUP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</c:v>
                </c:pt>
                <c:pt idx="1">
                  <c:v>84</c:v>
                </c:pt>
                <c:pt idx="2">
                  <c:v>112</c:v>
                </c:pt>
                <c:pt idx="3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read cost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Composite index</c:v>
                </c:pt>
                <c:pt idx="2">
                  <c:v>Covering index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32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Relative write cost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Composite index</c:v>
                </c:pt>
                <c:pt idx="2">
                  <c:v>Covering index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31</c:v>
                </c:pt>
                <c:pt idx="2">
                  <c:v>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Accepted rows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Source</c:v>
                </c:pt>
                <c:pt idx="1">
                  <c:v>Dimensions</c:v>
                </c:pt>
                <c:pt idx="2">
                  <c:v>Facts</c:v>
                </c:pt>
                <c:pt idx="3">
                  <c:v>Dashboard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</c:v>
                </c:pt>
                <c:pt idx="1">
                  <c:v>1180</c:v>
                </c:pt>
                <c:pt idx="2">
                  <c:v>1172</c:v>
                </c:pt>
                <c:pt idx="3">
                  <c:v>1172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Rejected rows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Source</c:v>
                </c:pt>
                <c:pt idx="1">
                  <c:v>Dimensions</c:v>
                </c:pt>
                <c:pt idx="2">
                  <c:v>Facts</c:v>
                </c:pt>
                <c:pt idx="3">
                  <c:v>Dashboard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20</c:v>
                </c:pt>
                <c:pt idx="2">
                  <c:v>8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-vibe-sql-cover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3504" y="566928"/>
            <a:ext cx="507492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86384"/>
            <a:ext cx="1353312" cy="1353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993392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008E88"/>
                </a:solidFill>
                <a:latin typeface="Arial"/>
              </a:rPr>
              <a:t>WSQ 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32304"/>
            <a:ext cx="4389120" cy="1353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300" b="1">
                <a:solidFill>
                  <a:srgbClr val="0B1F33"/>
                </a:solidFill>
                <a:latin typeface="Arial"/>
              </a:rPr>
              <a:t>AI Vibe Coding for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443484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222E"/>
                </a:solidFill>
                <a:latin typeface="Arial"/>
              </a:rPr>
              <a:t>TGS-2021002619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08E88"/>
                </a:solidFill>
                <a:latin typeface="Arial"/>
              </a:rPr>
              <a:t>Prompt · Query · Validate ·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30952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Version v1.0 · 27 August 2026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ONE DAY · 8 TRAINING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Course Navigation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1 ·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Prompt contracts, entities, keys and constraints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2 · 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CRUD, filters, joins and safe parameters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3 · Transform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Quality, aggregation, CTEs, transactions and indexes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4 · Deliver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Warehouse mappings, dashboards and capstone evidence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TRAQOM · 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Scan the SSG attendance QR at course start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Complete the afternoon attendance checkpoint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Scan again before the assessment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Eligibility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At least 75% attendance and competent assessment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5C6B73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About the Trainer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33756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00200" y="1874519"/>
            <a:ext cx="1463040" cy="146304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2240280"/>
            <a:ext cx="14630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37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2834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100" b="1">
                <a:solidFill>
                  <a:srgbClr val="14222E"/>
                </a:solidFill>
                <a:latin typeface="Arial"/>
              </a:rPr>
              <a:t>Your Trainer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283464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5C6B73"/>
                </a:solidFill>
                <a:latin typeface="Arial"/>
              </a:rPr>
              <a:t>Complete this profile before 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417320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1581912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5C6B73"/>
                </a:solidFill>
                <a:latin typeface="Arial"/>
              </a:rPr>
              <a:t>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545336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____________________________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496312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660904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5C6B73"/>
                </a:solidFill>
                <a:latin typeface="Arial"/>
              </a:rPr>
              <a:t>QUALIFICATIONS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624328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____________________________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3575304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739896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5C6B73"/>
                </a:solidFill>
                <a:latin typeface="Arial"/>
              </a:rPr>
              <a:t>SQL / AI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03320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____________________________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654296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818888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5C6B73"/>
                </a:solidFill>
                <a:latin typeface="Arial"/>
              </a:rP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82312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____________________________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About the Trainer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33756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00200" y="1874519"/>
            <a:ext cx="1463040" cy="1463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2240280"/>
            <a:ext cx="14630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37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2834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100" b="1">
                <a:solidFill>
                  <a:srgbClr val="14222E"/>
                </a:solidFill>
                <a:latin typeface="Arial"/>
              </a:rPr>
              <a:t>Dr Alfred 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283464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5C6B73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417320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1581912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8E88"/>
                </a:solidFill>
                <a:latin typeface="Arial"/>
              </a:rPr>
              <a:t>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545336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Data science, AI, optimisation and database systems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496312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660904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8E88"/>
                </a:solidFill>
                <a:latin typeface="Arial"/>
              </a:rPr>
              <a:t>TEACHING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624328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WSQ technical courses and applied project learning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3575304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739896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8E88"/>
                </a:solidFill>
                <a:latin typeface="Arial"/>
              </a:rPr>
              <a:t>APPROACH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03320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Mechanism first: prompt, inspect, execute, test, explain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654296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818888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8E88"/>
                </a:solidFill>
                <a:latin typeface="Arial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82312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Queries, plans, reconciliations and working applications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ICEBREAKER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Know Your Starting Point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What decisions do you make with data?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Which queries can you already read?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Which assistant do you use and how do you validate it?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Outcome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Which small database app would save you time?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WORKING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Ground Rules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Protect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Use only fictional lab 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Challenge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Never accept generated SQL without 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Pair and explain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Share reasoning, not just copied output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Save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Keep prompts, query results and checks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LMS / TMS VISUAL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Download Course Materials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Sign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Open lms-tms.tertiaryinfotech.com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Open course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Select AI Vibe Coding for 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Download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Trainer PDF, Learner Guide and Labs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Confirm 11 lab folders and assessment links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COURSE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Learning Outcomes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LO1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Apply data modelling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LO2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Apply data processing and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LO3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Apply data aggregation and transformation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LO4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Perform data mapping to a data warehouse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8 TRAINING HOURS + 1 HOUR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One-Day Learning Journey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4848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48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09:00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Admin + AI-SQL control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56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572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30498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049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460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10:00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374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Topic 1 ·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021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137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56148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561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25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12:00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939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Topic 2 · 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586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702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1797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179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590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14:45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504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Topics 3–4 · Transform + deliver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151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267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07447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744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155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17:30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069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WA + PP assessment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LAB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Browser SQLite Runtime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4848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48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Semantic interface and 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56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572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30498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049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460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374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Responsive, accessible visual 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021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137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56148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561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25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JavaScript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939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Validation and bound parameters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586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702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179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179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590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504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SQLite compiled to WebAssembly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151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267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0744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744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155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Export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069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Portable .db evidence file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VIBE CODING WITH ENGINEERING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AI-to-SQL Control Loop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9378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937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Specify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Schema, dialect, rules, 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362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94788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74086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4086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3660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2804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Request bounded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4832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9496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28794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794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8368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Inspect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7512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Trace fields and joins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4204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83502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83502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3076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Execute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2220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Use a disposable transaction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774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58912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38210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8210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7784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6928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Adversarial + reconciliation checks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2452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13620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92918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9291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2492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Approve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41636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Record evidence and limitations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Assessment Briefing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Open 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Use approved slides, guide and lab assets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Individual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No discussion or recording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Submission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Upload completed answers to the LMS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Competency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Every mapped K and A criterion must pass</a:t>
            </a: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WA + PP · 60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Assessment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Written · 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7 open-ended questions covering K1–K7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Practical · 40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4 connected tasks covering A1–A9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SQL, output, validation and explanation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Competent / Not Yet Competent</a:t>
            </a: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Assessment Flow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4848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48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TRAQOM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Assessment 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56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572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30498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049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460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374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7 knowledge responses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021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137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56148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561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25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939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4 practical SQL tasks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586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702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1797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179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590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Upload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504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Submit on LMS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151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267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07447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744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155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Sign-off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069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Review outcome and appeal route</a:t>
            </a: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REQUIREMENTS TO NORMALISED RELATIONAL SCHEMAS, CONSTRAINTS AND SAFE AI PROMPT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Topic 01 · AI-Assisted SQL Data Modelling and Database Design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A8B8C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874519"/>
            <a:ext cx="192024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0" b="1">
                <a:solidFill>
                  <a:srgbClr val="008E88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057400"/>
            <a:ext cx="813816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Requirements to normalised relational schemas, constraints and safe AI prompt contracts</a:t>
            </a: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TOPIC 01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Requirement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008E88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Entities, attributes, relationships, invariants and sample rows become explicit prompt inputs.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TOPIC 01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Relational integrity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008E88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PRIMARY KEY, FOREIGN KEY, NOT NULL, UNIQUE and CHECK constraints reject invalid states.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TOPIC 01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Normalisation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008E88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1NF removes repeating groups; 2NF removes partial dependency; 3NF removes transitive dependency.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TOPIC 01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AI validation gate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008E88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Treat generated DDL as a proposal: inspect, execute in a transaction, test constraints, then approve.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Relational Integrity Boundary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Requirement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Business invariant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DDL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Constraint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Runtime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SQLite rejects invalid row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Expected error captured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 · Prompt-to-Schema Design Studio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Model a Singapore retail ordering workflow from an ambiguous business brief.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LO1 · K1–K3 · A1–A4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NORMALISED SQLITE SCHEMA, RELATIONSHIP MAP AND CONSTRAINT TEST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Act as a senior SQLite data modeller. From the requirements below, return: assumptions; entities and cardinalities; 3NF tables; SQLite DDL with explicit PK, FK, NOT NULL, UNIQUE and CHECK constraints; five adversarial test cases. Do not invent fields. Mark every uncertainty as NEEDS_CONFIRMATION.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1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name, sql FROM sqlite_master WHERE type='table' ORDER BY name;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Invalid email, negative price and orphan order rows are rejected; valid sample rows insert successfully.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AI invents fields or omits constraints → restate the data contract and require a requirement-to-column trace.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2 · SQLite To-Do List Web App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Build a personal work queue with priorities, due dates and completion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LO1 · LO2 · A1–A6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RESPONSIVE HTML/CSS/JAVASCRIPT TO-DO APP THAT PERSISTS AN EXPORTED SQLITE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2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2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Generate SQLite DDL and parameterised CRUD statements for a tasks table with title, priority, due_date, completed and created_at. Enforce allowed priorities and completed as 0/1. Return SQL only, then list five tests separately.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2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2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id,title,priority,due_date,completed FROM tasks ORDER BY completed, CASE priority WHEN 'High' THEN 1 WHEN 'Medium' THEN 2 ELSE 3 END, due_date;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2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Add, complete and delete tasks; export the database, reload the page, import it and recover the same rows.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Unsafe string concatenation or missing domain checks → replace with bound parameters and CHECK constraints.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3 · Customer and Order Relationship Lab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Turn spreadsheet-style customer and order data into a clean relational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LO1 · K2–K3 · A1–A4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CUSTOMER, ORDER AND ORDER-ITEM TABLES WITH TESTED ONE-TO-MANY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3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3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Review these customer/order columns. Identify repeating groups and dependencies, propose a 3NF SQLite design, state the grain of each table, and provide DDL plus orphan-key tests. Preserve source identifiers for reconciliation.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3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3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c.name, COUNT(DISTINCT o.id) orders, ROUND(SUM(oi.qty*oi.unit_price),2) revenue FROM customers c JOIN orders o ON o.customer_id=c.id JOIN order_items oi ON oi.order_id=o.id GROUP BY c.id,c.name ORDER BY revenue DESC;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3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The revenue total matches the seed control total and every order item resolves to one order and one product.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Join duplicates inflate revenue → aggregate at order-item grain and verify keys before summing.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01 · Evidence Chart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37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85800" y="1417320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549640" y="1417320"/>
            <a:ext cx="297180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764792"/>
            <a:ext cx="2377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the data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2395728"/>
            <a:ext cx="2331720" cy="2697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4222E"/>
                </a:solidFill>
                <a:latin typeface="Arial"/>
              </a:rPr>
              <a:t>The chart is editable and bound to the same metric grain as the SQL. Validate totals before interpreting differences; visual polish never substitutes for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01 · Decision Checklist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state grain, keys and rules?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trace runtime row flow?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explain the failure path?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reproduce and reconcile output?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CRUD, PREDICATES, JOINS, PARAMETER BINDING AND EVIDENCE-LED CORRECTION OF AI-GENERATED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Topic 02 · SQL Data Processing, Querying and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A8B8C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874519"/>
            <a:ext cx="192024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0" b="1">
                <a:solidFill>
                  <a:srgbClr val="2B6CB0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057400"/>
            <a:ext cx="813816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CRUD, predicates, joins, parameter binding and evidence-led correction of AI-generated queries</a:t>
            </a:r>
          </a:p>
        </p:txBody>
      </p:sp>
    </p:spTree>
  </p:cSld>
  <p:clrMapOvr>
    <a:masterClrMapping/>
  </p:clrMapOvr>
  <p:transition spd="med">
    <p:push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TOPIC 02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Query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FROM/JOIN builds the rowset; WHERE filters; GROUP BY aggregates; HAVING filters groups; SELECT projects; ORDER BY sorts.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TOPIC 02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Safe parameters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Bind user input as values instead of concatenating strings; structure such as column names stays allow-listed.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TOPIC 02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Join cardinality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Keys and relationship direction predict row counts; unexpected multiplication is a diagnostic signal.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TOPIC 02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CRUD control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Validate inputs, wrap dependent writes in a transaction, verify affected rows and preserve an audit trail.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EXECUTION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Logical Query Processing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9378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937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FROM / 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Construct rowset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362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94788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74086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4086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3660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2804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Filter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4832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9496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28794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794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8368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GROUP BY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7512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Form groups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4204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83502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83502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3076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HAVING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2220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Filter groups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774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58912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38210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8210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7784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SELECT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6928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Project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2452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13620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92918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9291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2492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ORDER BY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41636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Sort result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4 · Inventory CRUD Web App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Manage stock levels for a small Singapore retailer without allowing negative inventory.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LO2 · K4 · A5–A6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SEARCHABLE INVENTORY INTERFACE WITH PARAMETERISED STOCK ADJUSTMENTS AND LOW-STOCK FLAGS.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4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4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Produce parameterised SQLite CRUD statements for products. A stock adjustment must be atomic, reject negative resulting stock, and return the updated row. Include a transaction and rollback path.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4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4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sku,name,stock,reorder_level, CASE WHEN stock&lt;=reorder_level THEN 'REORDER' ELSE 'OK' END status FROM products ORDER BY status DESC, stock;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4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Positive and negative adjustments update one row; an adjustment below zero is rolled 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Read-modify-write race or negative balance → use one guarded UPDATE inside a transaction and check changes().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5 · Order Query and Filter Explorer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Answer operations questions using SELECT, WHERE, ORDER BY, LIMIT and date filters.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LO2 · K4 · A5–A6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TESTED LIBRARY OF PARAMETERISED OPERATIONAL QUERIES AND EXPECTED RESULT 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5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5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Given this schema and business question, generate one SQLite SELECT using named parameters. Explain predicate selectivity and null behaviour. Provide a second query that proves the result is complete.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5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5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order_no,customer_name,status,total,order_date FROM orders WHERE status='Paid' AND order_date&gt;='2026-08-01' ORDER BY total DESC LIMIT 10;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5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Results satisfy every predicate, sort descending and match an independent COUNT control query.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NULL rows disappear unexpectedly → state three-valued logic and test IS NULL explicitly.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6 · Service Desk Join Lab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Combine tickets, requesters and agents without losing unassigned tickets.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LO2 · K3–K4 · A3–A6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SERVICE-DESK BROWSER APP AND JOIN REPORT THAT PRESERVES UNMATCHED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6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6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Write a SQLite query for all tickets with requester and optional assigned agent. Preserve unassigned tickets, derive age_hours, and order SLA breaches first. Explain why each join is INNER or LEFT.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6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6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t.id,t.subject,r.name requester,a.name agent,ROUND((julianday('now')-julianday(t.created_at))*24,1) age_hours FROM tickets t JOIN people r ON r.id=t.requester_id LEFT JOIN people a ON a.id=t.agent_id ORDER BY (age_hours&gt;24) DESC,age_hours DESC;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6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Every ticket appears exactly once and unassigned tickets show a blank agent rather than disappearing.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INNER JOIN removes optional relationships → change only the optional side to LEFT JOIN and test row counts.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02 · Evidence Chart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60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85800" y="1417320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549640" y="1417320"/>
            <a:ext cx="297180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764792"/>
            <a:ext cx="2377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the data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2395728"/>
            <a:ext cx="2331720" cy="2697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4222E"/>
                </a:solidFill>
                <a:latin typeface="Arial"/>
              </a:rPr>
              <a:t>The chart is editable and bound to the same metric grain as the SQL. Validate totals before interpreting differences; visual polish never substitutes for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02 · Decision Checklist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state grain, keys and rules?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trace runtime row flow?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explain the failure path?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reproduce and reconcile output?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AGGREGATE MEASURES, CTES, DATA-QUALITY RULES, TRANSACTIONS, INDEXES AND QUERY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Topic 03 · SQL Data Aggregation and Transformation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A8B8C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874519"/>
            <a:ext cx="192024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0" b="1">
                <a:solidFill>
                  <a:srgbClr val="6B4EB6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057400"/>
            <a:ext cx="813816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Aggregate measures, CTEs, data-quality rules, transactions, indexes and query plans</a:t>
            </a:r>
          </a:p>
        </p:txBody>
      </p:sp>
    </p:spTree>
  </p:cSld>
  <p:clrMapOvr>
    <a:masterClrMapping/>
  </p:clrMapOvr>
  <p:transition spd="med">
    <p:push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TOPIC 03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Grain first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Define what one output row represents before choosing GROUP BY columns or joining detail tables.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TOPIC 03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Quality profile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Count nulls, duplicates, invalid domains and orphan keys before transforming source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TOPIC 03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Atomic change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BEGIN, COMMIT and ROLLBACK protect multi-step updates from partial completion.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TOPIC 03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Performance evidence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EXPLAIN QUERY PLAN proves whether an index changes access from SCAN to SEARCH.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Transformation Control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4848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48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Quantify defects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56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572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30498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049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460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374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Preserve raw 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021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137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56148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561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25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Transform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939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Apply deterministic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586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702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1797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179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590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Validate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504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Reconcile rows and totals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151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267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07447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744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155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Commit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069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Publish only accepted state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7 · Sales Aggregation Dashboard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Create management KPIs from order-line data at a declared grain.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LO3 · K5–K6 · A5–A7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BROWSER DASHBOARD WITH REVENUE, AVERAGE ORDER VALUE AND CATEGORY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7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7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At order-line grain, generate SQLite queries for revenue, distinct orders, average order value and monthly category totals. Prevent double counting and define every numerator and denominator.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7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7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WITH line AS (SELECT oi.order_id,p.category,oi.qty*oi.unit_price amount FROM order_items oi JOIN products p ON p.id=oi.product_id) SELECT category,ROUND(SUM(amount),2) revenue,COUNT(DISTINCT order_id) orders FROM line GROUP BY category ORDER BY revenue DESC;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7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Dashboard grand total equals SUM(qty*unit_price) from order_items and AOV equals revenue/distinct orders.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Averages use line count instead of order count → declare grain and use COUNT(DISTINCT order_id).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8 · Data Quality and Transaction Control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Clean supplier data and update linked records without partial writes.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LO3 · K5–K6 · A3–A7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PROFILING REPORT, REJECT TABLE AND ATOMIC CORRECTION TRANSACTION.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8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8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Profile this SQLite supplier table for nulls, duplicate emails, invalid status values and orphan product references. Propose deterministic corrections, a reject table and one atomic transaction. Never delete source rows silently.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8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8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'null_email' issue,COUNT(*) n FROM suppliers WHERE email IS NULL UNION ALL SELECT 'duplicate_email',COUNT(*) FROM (SELECT email FROM suppliers WHERE email IS NOT NULL GROUP BY email HAVING COUNT(*)&gt;1);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8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The transaction either applies all linked corrections or rolls back; source and reject totals reconcile.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AI overwrites evidence or applies non-deterministic fixes → retain raw values, reason codes and explicit rules.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9 · CTEs, Indexes and Query Plans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Improve a slow order-history query using evidence rather than intuition.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LO3 · K7 · A5–A7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READABLE CTE QUERY, COMPOSITE INDEX AND BEFORE/AFTER EXPLAIN QUERY PLAN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9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9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Refactor this SQLite query into named CTEs, then propose the smallest useful index. Explain column order from equality, range and ordering predicates. Require EXPLAIN QUERY PLAN evidence before claiming improvement.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9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9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EXPLAIN QUERY PLAN SELECT customer_id,order_date,total FROM orders WHERE customer_id=7 AND order_date&gt;='2026-01-01' ORDER BY order_date DESC;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9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Plan changes from full SCAN to indexed SEARCH and the result set remains byte-for-byte equivalent.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Index adds storage but is unused → compare plan, predicate order and selectivity; remove redundant index.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03 · Evidence Chart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83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85800" y="1417320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549640" y="1417320"/>
            <a:ext cx="297180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764792"/>
            <a:ext cx="2377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the data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2395728"/>
            <a:ext cx="2331720" cy="2697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4222E"/>
                </a:solidFill>
                <a:latin typeface="Arial"/>
              </a:rPr>
              <a:t>The chart is editable and bound to the same metric grain as the SQL. Validate totals before interpreting differences; visual polish never substitutes for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03 · Decision Checklist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state grain, keys and rules?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trace runtime row flow?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explain the failure path?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reproduce and reconcile output?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SOURCE-TO-TARGET MAPPING, STAR SCHEMAS, DIMENSIONAL LOADS AND BROWSER DASHBOARDS BACKED BY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Topic 04 · Data Mapping, Warehousing and Dashboard Development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A8B8C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874519"/>
            <a:ext cx="192024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0" b="1">
                <a:solidFill>
                  <a:srgbClr val="F3A712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057400"/>
            <a:ext cx="813816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Source-to-target mapping, star schemas, dimensional loads and browser dashboards backed by SQLite</a:t>
            </a:r>
          </a:p>
        </p:txBody>
      </p:sp>
    </p:spTree>
  </p:cSld>
  <p:clrMapOvr>
    <a:masterClrMapping/>
  </p:clrMapOvr>
  <p:transition spd="med">
    <p:push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TOPIC 04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Warehouse grain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3A712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A fact table states one measurable event; dimensions provide stable descriptive context.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TOPIC 04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Source-to-target map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3A712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Each target column records source, transform, data type, null rule and reconciliation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TOPIC 04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Load discipline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3A712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Load dimensions before facts, resolve surrogate keys, quarantine rejects and reconcile totals.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TOPIC 04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Dashboard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3A712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Each visual owns a metric definition, SQL query, filter behaviour and acceptance threshold.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WAREHOUSE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Star Schema Load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4848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48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Source to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56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572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30498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049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460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Dimensions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374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Resolve context keys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021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137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56148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561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25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Facts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939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Load measurable 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586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702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1797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179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590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Reconcile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504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Counts and amounts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151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267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07447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744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155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Serve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069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Dashboard queries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10 · Warehouse Star Schema Dashboard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Map retail transactions into a small analytical star schema.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LO4 · K3,K7 · A7–A9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DATE, CUSTOMER AND PRODUCT DIMENSIONS; A SALES FACT; MAPPING DOCUMENT AND KPI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10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10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Design a SQLite star schema for retail sales at order-line grain. Return source-to-target mappings, surrogate-key strategy, dimension-first load SQL, reject handling and three reconciliation queries. Distinguish additive from non-additive measures.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10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10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d.month_name,p.category,ROUND(SUM(f.sales_amount),2) sales FROM fact_sales f JOIN dim_date d ON d.date_key=f.date_key JOIN dim_product p ON p.product_key=f.product_key GROUP BY d.month_name,p.category ORDER BY d.date_key,p.category;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10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Fact row count equals accepted source lines; fact amount reconciles to source amount; no unknown foreign keys remain.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Facts load before dimensions or grain is unclear → resolve dimension keys first and reject unresolved rows.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11 · Capstone: AI-Built Service Operations App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Deliver a small service-operations product from brief to validated dashboard.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LO1–LO4 · K1–K7 · A1–A9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FUNCTIONING SQLITE WEB APP, PROMPT LOG, SCHEMA, CRUD WORKFLOW, REPORT AND ACCEPTANCE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11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11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You are my SQL pair programmer. Work in stages and wait for approval after each: clarify requirements; propose 3NF model; generate SQLite DDL; generate parameterised CRUD; generate SLA report; generate tests and threat review. For every stage, list assumptions, expected outputs and failure tests. Do not change approved contracts silently.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11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11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status,priority,COUNT(*) tickets,ROUND(AVG((julianday(COALESCE(closed_at,'now'))-julianday(created_at))*24),1) avg_hours FROM tickets GROUP BY status,priority ORDER BY status,priority;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11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All acceptance tests pass: integrity, parameter binding, CRUD, report reconciliation, export/import and responsive UI.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Vibe-coded output drifts across files → freeze interfaces, test after each change and keep a decision/prompt log.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04 · Evidence Chart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101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85800" y="1417320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549640" y="1417320"/>
            <a:ext cx="297180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764792"/>
            <a:ext cx="2377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the data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2395728"/>
            <a:ext cx="2331720" cy="2697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4222E"/>
                </a:solidFill>
                <a:latin typeface="Arial"/>
              </a:rPr>
              <a:t>The chart is editable and bound to the same metric grain as the SQL. Validate totals before interpreting differences; visual polish never substitutes for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04 · Decision Checklist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state grain, keys and rules?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trace runtime row flow?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explain the failure path?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reproduce and reconcile output?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COURSE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What You Built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11 web labs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Each folder runs independently with HTML/CSS/JS + SQLite WASM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Prompt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Requirements, AI output, corrections and decision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SQL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DDL, CRUD, joins, aggregates, CTEs, transactions and plans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Capstone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Service operations app with dashboard and acceptance checks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PRACTICE · EXAMS.TERTIARYINFOTECH.COM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Practice Beyond Class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Rebuild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Delete generated query and recreate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Perturb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Change data and test boundaries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Narrate row flow and controls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Use the Tertiary Exams portal for SQL-adjacent data practice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READY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Final Assessment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WA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Explain K1–K7 using course mechanisms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Model, query, aggregate and map one scenario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Submit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Upload only candidate evidence to LMS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Privacy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Answer keys stay trainer-private</a:t>
            </a:r>
          </a:p>
        </p:txBody>
      </p:sp>
    </p:spTree>
  </p:cSld>
  <p:clrMapOvr>
    <a:masterClrMapping/>
  </p:clrMapOvr>
  <p:transition spd="med">
    <p:push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FINAL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Assessment Flow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106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4848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48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Attend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TRAQOM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56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572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30498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049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460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374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WA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021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137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56148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561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25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939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586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702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1797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179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590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Upload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504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LMS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151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267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07447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744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155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069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Sign-off</a:t>
            </a:r>
          </a:p>
        </p:txBody>
      </p:sp>
    </p:spTree>
  </p:cSld>
  <p:clrMapOvr>
    <a:masterClrMapping/>
  </p:clrMapOvr>
  <p:transition spd="med">
    <p:push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CLOSE-OUT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107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Assessment QR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Complete before starting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Confirm LMS upload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Complete TRAQOM survey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Certificate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Issued after attendance + competency</a:t>
            </a:r>
          </a:p>
        </p:txBody>
      </p:sp>
    </p:spTree>
  </p:cSld>
  <p:clrMapOvr>
    <a:masterClrMapping/>
  </p:clrMapOvr>
  <p:transition spd="med">
    <p:push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PROMPT LESS · VERIFY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A8B8C3"/>
                </a:solidFill>
                <a:latin typeface="Arial"/>
              </a:rPr>
              <a:t>AI Vibe Coding for SQL · TGS-2021002619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108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148840"/>
            <a:ext cx="1051560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Turn intent into tested SQL.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05156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300" b="1">
                <a:solidFill>
                  <a:srgbClr val="8FE5D7"/>
                </a:solidFill>
                <a:latin typeface="Arial"/>
              </a:rPr>
              <a:t>Model · Query · Validate · Ship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